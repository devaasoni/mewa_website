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D0D2-B69C-EE56-F835-A02CB7F54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CABB8-8432-895F-AB4A-5D0D133B9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F789F-BE3A-F472-D60B-DCA2E9A9B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BAAE-51AC-4A7F-9309-D5A186927E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4FC88-BE96-719F-4247-15FF397D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E31FB-68F9-FD1E-4AD0-47A51616B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5B3-D871-453C-A064-58158B9A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745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5C28-5312-1850-499F-B26C58F6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EC63B-9043-6236-3CD9-9DCC74052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B2E94-4EA9-7E90-5883-9015AD25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BAAE-51AC-4A7F-9309-D5A186927E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1537E-2700-6C2A-CC42-864C49E4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63E07-03D5-49F0-BDDE-1AF73E20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5B3-D871-453C-A064-58158B9A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2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E59E-1863-65C1-F48F-C0D02F5E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0B62F-0438-7B78-5510-A1B7EBFAF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80DAE-F791-B3BD-DEDC-FAAD557A0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BAAE-51AC-4A7F-9309-D5A186927E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4B421-065E-B2ED-3F03-2824BBC58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A5B07-C09E-4B0D-B29C-E6C2CF3A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5B3-D871-453C-A064-58158B9A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787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CFF7-31F6-77D0-B5B3-86C229B40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EE0A7-04B8-347D-E008-14150AC00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34D9E-D3EE-F199-BFF5-8E939AD9F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46507-F9F8-E7A2-7A05-3CCAAEF0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BAAE-51AC-4A7F-9309-D5A186927E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44D49-E07F-A499-7914-A48C7858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51BE4-6A4D-3221-1FB6-4F2476B9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5B3-D871-453C-A064-58158B9A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521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CD52-B6D8-1187-B9C6-5D8F5240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AFF48-8D77-65B5-2281-A772CEDB0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C0407-1D15-F8CF-AEA3-D68B14A54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1FECE-53B2-7CE9-96D6-C395E1898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07D7D-53C5-EF94-ECDF-AD17E33EEB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1D9974-2CC3-C00E-8FB1-850C70C0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BAAE-51AC-4A7F-9309-D5A186927E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B58BD-4297-F478-574B-568E62FFF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79BE93-A0C9-7D74-6432-360207C19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5B3-D871-453C-A064-58158B9A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635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5645-ACFC-18BC-4380-31C48275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23535-DB72-84C0-D6F3-37F90314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BAAE-51AC-4A7F-9309-D5A186927E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B06C6-115A-3756-C092-9FDBF6944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352B8-61C2-3DC0-512E-03530CCE0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5B3-D871-453C-A064-58158B9A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E51B8-E69E-4D41-F6A9-09EB1EC8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BAAE-51AC-4A7F-9309-D5A186927E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D8D1AE-7BAA-BE66-144C-26EB6CA21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EB665-C013-A1A1-FB85-965F0528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5B3-D871-453C-A064-58158B9A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93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DDA90-0363-596E-BEE0-9FDE9EB0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DAA18-2539-601B-272B-11074E92A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BDD31-9A29-AB5D-362E-BE284BCF0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112F1-53FD-D860-C489-2481409B8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BAAE-51AC-4A7F-9309-D5A186927E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305B3-CA4C-4D48-4867-C48BF640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8B0B2-05DF-617B-11BF-589F7C33E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5B3-D871-453C-A064-58158B9A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353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D3F4-B86D-731D-E886-5DD90E8A1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166E7A-A3FE-3DC9-D8B0-A102437C29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77834-AD66-7849-2D01-9E0F5B171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B005B-57F2-A79F-2F1E-307FC699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BAAE-51AC-4A7F-9309-D5A186927E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38F1A-468E-4196-EE51-A9890100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A1BDE-09D8-84A9-8416-CA300A3D2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5B3-D871-453C-A064-58158B9A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257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1D76D-E29B-51DD-D427-8ED9FCF65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FB331-5CA5-26B1-7E8C-1E5DE701F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89F63-2D0E-A100-5C87-4F5EEDF7F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BAAE-51AC-4A7F-9309-D5A186927E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B4C16-2AF5-B32A-608B-20B7A779A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53D8C-5EFE-FCC9-1FE5-589011D5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5B3-D871-453C-A064-58158B9A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75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6BCF4-BC77-0750-9B47-D7B0FE19F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BF9D-C7D1-6CCE-720B-E607489BE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62654-7527-8D80-424D-F712F8BE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BAAE-51AC-4A7F-9309-D5A186927E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C9BBF-F0E3-DAC5-7AB3-E82A0A040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6F887-45F8-B88A-06A9-38DD1C88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C5B3-D871-453C-A064-58158B9A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76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E05C0-C31B-8954-F403-C6197350C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B8891-670B-D40F-1735-A788D4391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ED443-8686-9EC6-1E32-1E37A9CD83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FBAAE-51AC-4A7F-9309-D5A186927E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EBFDF-1D60-F791-6000-8D799E635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4F076-A9A4-2FD5-D755-BECA4516D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1C5B3-D871-453C-A064-58158B9A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644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7.png"/><Relationship Id="rId7" Type="http://schemas.openxmlformats.org/officeDocument/2006/relationships/image" Target="../media/image3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D43686-3965-5A77-92E2-62D16467E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8" y="1316687"/>
            <a:ext cx="12077323" cy="65137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91C39D-7B19-CDC9-582F-A53273FF2F4F}"/>
              </a:ext>
            </a:extLst>
          </p:cNvPr>
          <p:cNvSpPr/>
          <p:nvPr/>
        </p:nvSpPr>
        <p:spPr>
          <a:xfrm>
            <a:off x="2172832" y="2534969"/>
            <a:ext cx="6572816" cy="30063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Remove drop down from “Our App”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Headers must be in pure white </a:t>
            </a:r>
            <a:r>
              <a:rPr lang="en-US" dirty="0" err="1">
                <a:solidFill>
                  <a:schemeClr val="tx1"/>
                </a:solidFill>
              </a:rPr>
              <a:t>colour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Whenever cursor goes on these sections then it must change </a:t>
            </a:r>
            <a:r>
              <a:rPr lang="en-US" dirty="0" err="1">
                <a:solidFill>
                  <a:schemeClr val="tx1"/>
                </a:solidFill>
              </a:rPr>
              <a:t>colour</a:t>
            </a:r>
            <a:r>
              <a:rPr lang="en-US" dirty="0">
                <a:solidFill>
                  <a:schemeClr val="tx1"/>
                </a:solidFill>
              </a:rPr>
              <a:t> to our theme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Whenever cursor goes on Logo color effect from down to upside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Change font of THE MEWA (</a:t>
            </a:r>
            <a:r>
              <a:rPr lang="en-US" dirty="0" err="1">
                <a:solidFill>
                  <a:schemeClr val="tx1"/>
                </a:solidFill>
              </a:rPr>
              <a:t>Thoda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patla</a:t>
            </a:r>
            <a:r>
              <a:rPr lang="en-US" dirty="0">
                <a:solidFill>
                  <a:schemeClr val="tx1"/>
                </a:solidFill>
              </a:rPr>
              <a:t> joie)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43BF2AFF-AB8D-DB82-71F6-E57FD5405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3297" y="3069930"/>
            <a:ext cx="359070" cy="359070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90DC922A-F648-A8C5-186F-529971624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3297" y="3309425"/>
            <a:ext cx="359070" cy="35907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50D84909-C2D1-E22B-F5A9-574508E86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3297" y="3604891"/>
            <a:ext cx="359070" cy="359070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7BD58A6F-52E9-BB0B-D349-02238B261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3297" y="4690672"/>
            <a:ext cx="359070" cy="359070"/>
          </a:xfrm>
          <a:prstGeom prst="rect">
            <a:avLst/>
          </a:prstGeom>
        </p:spPr>
      </p:pic>
      <p:pic>
        <p:nvPicPr>
          <p:cNvPr id="10" name="Graphic 9" descr="Clock with solid fill">
            <a:extLst>
              <a:ext uri="{FF2B5EF4-FFF2-40B4-BE49-F238E27FC236}">
                <a16:creationId xmlns:a16="http://schemas.microsoft.com/office/drawing/2014/main" id="{96ADB533-9015-E1BE-A8D8-98ED3A0CAF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5797" y="4031685"/>
            <a:ext cx="654536" cy="65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37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D1F1-E422-1C44-B16A-D08548F7F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4FBD06-60E8-E8C4-ED9D-606CB259D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542352" cy="4360214"/>
          </a:xfrm>
          <a:prstGeom prst="rect">
            <a:avLst/>
          </a:prstGeom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4369F6-186E-2D86-CD8B-3B131206ED1D}"/>
              </a:ext>
            </a:extLst>
          </p:cNvPr>
          <p:cNvSpPr/>
          <p:nvPr/>
        </p:nvSpPr>
        <p:spPr>
          <a:xfrm>
            <a:off x="7776929" y="1566249"/>
            <a:ext cx="3892990" cy="12674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Revision History to Revised.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must be placed next to Revised Tab on top &amp; move horizontally.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Same for  from Live Prices to Active.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FE838E-8904-6EC8-9485-E2C5B20CA8C8}"/>
              </a:ext>
            </a:extLst>
          </p:cNvPr>
          <p:cNvCxnSpPr/>
          <p:nvPr/>
        </p:nvCxnSpPr>
        <p:spPr>
          <a:xfrm flipH="1">
            <a:off x="7251826" y="2507810"/>
            <a:ext cx="525103" cy="669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6D8E52C-CE12-E3C7-8ABA-5DDAA29F1EB3}"/>
              </a:ext>
            </a:extLst>
          </p:cNvPr>
          <p:cNvCxnSpPr>
            <a:cxnSpLocks/>
          </p:cNvCxnSpPr>
          <p:nvPr/>
        </p:nvCxnSpPr>
        <p:spPr>
          <a:xfrm flipH="1" flipV="1">
            <a:off x="6989274" y="1112067"/>
            <a:ext cx="787655" cy="76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F3E1B5-1161-DAA6-0432-B230E95ED6FF}"/>
              </a:ext>
            </a:extLst>
          </p:cNvPr>
          <p:cNvSpPr/>
          <p:nvPr/>
        </p:nvSpPr>
        <p:spPr>
          <a:xfrm>
            <a:off x="1318794" y="1112066"/>
            <a:ext cx="3621381" cy="19570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dirty="0"/>
              <a:t>We’ll Provide You</a:t>
            </a:r>
            <a:endParaRPr lang="en-IN" sz="1400" dirty="0"/>
          </a:p>
          <a:p>
            <a:r>
              <a:rPr lang="en-IN" sz="1400" dirty="0"/>
              <a:t>Buy &amp; Sell Alerts</a:t>
            </a:r>
          </a:p>
          <a:p>
            <a:r>
              <a:rPr lang="en-IN" sz="1400" dirty="0"/>
              <a:t>With </a:t>
            </a:r>
          </a:p>
          <a:p>
            <a:r>
              <a:rPr lang="en-IN" sz="1400" dirty="0"/>
              <a:t>Target &amp; Stop Loss</a:t>
            </a:r>
          </a:p>
          <a:p>
            <a:endParaRPr lang="en-IN" sz="1400" dirty="0"/>
          </a:p>
          <a:p>
            <a:r>
              <a:rPr lang="en-IN" sz="1400" dirty="0"/>
              <a:t>Track every</a:t>
            </a:r>
          </a:p>
          <a:p>
            <a:r>
              <a:rPr lang="en-US" sz="1400" dirty="0">
                <a:solidFill>
                  <a:srgbClr val="92D050"/>
                </a:solidFill>
              </a:rPr>
              <a:t>Active Recommendation</a:t>
            </a:r>
          </a:p>
          <a:p>
            <a:r>
              <a:rPr lang="en-US" sz="1400" dirty="0">
                <a:solidFill>
                  <a:srgbClr val="92D050"/>
                </a:solidFill>
              </a:rPr>
              <a:t>Revised Recommendation</a:t>
            </a:r>
          </a:p>
          <a:p>
            <a:r>
              <a:rPr lang="en-US" sz="1400" dirty="0">
                <a:solidFill>
                  <a:schemeClr val="bg1"/>
                </a:solidFill>
              </a:rPr>
              <a:t>In our App / Website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2AA756-7759-5411-B5BF-AB5C5577E9B6}"/>
              </a:ext>
            </a:extLst>
          </p:cNvPr>
          <p:cNvSpPr/>
          <p:nvPr/>
        </p:nvSpPr>
        <p:spPr>
          <a:xfrm>
            <a:off x="993620" y="54319"/>
            <a:ext cx="2672279" cy="4769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Border </a:t>
            </a:r>
            <a:r>
              <a:rPr lang="en-US" sz="1200" dirty="0" err="1"/>
              <a:t>colour</a:t>
            </a:r>
            <a:r>
              <a:rPr lang="en-US" sz="1200" dirty="0"/>
              <a:t> of our theme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A8CC1B-DD52-3EC3-CC75-803D830949E5}"/>
              </a:ext>
            </a:extLst>
          </p:cNvPr>
          <p:cNvCxnSpPr/>
          <p:nvPr/>
        </p:nvCxnSpPr>
        <p:spPr>
          <a:xfrm>
            <a:off x="1874067" y="531243"/>
            <a:ext cx="90535" cy="2738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7B2086-3377-2795-F31B-230112177F16}"/>
              </a:ext>
            </a:extLst>
          </p:cNvPr>
          <p:cNvSpPr/>
          <p:nvPr/>
        </p:nvSpPr>
        <p:spPr>
          <a:xfrm>
            <a:off x="2167620" y="3652965"/>
            <a:ext cx="2672279" cy="4769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Font </a:t>
            </a:r>
            <a:r>
              <a:rPr lang="en-US" sz="1200" dirty="0" err="1"/>
              <a:t>colour</a:t>
            </a:r>
            <a:r>
              <a:rPr lang="en-US" sz="1200" dirty="0"/>
              <a:t> of our theme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6DD4FA4-C214-F32A-B742-35D69ABC3034}"/>
              </a:ext>
            </a:extLst>
          </p:cNvPr>
          <p:cNvSpPr/>
          <p:nvPr/>
        </p:nvSpPr>
        <p:spPr>
          <a:xfrm>
            <a:off x="3358081" y="2408221"/>
            <a:ext cx="307818" cy="425513"/>
          </a:xfrm>
          <a:prstGeom prst="righ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E58593-FFFF-8663-1F4A-6D17A9292F0C}"/>
              </a:ext>
            </a:extLst>
          </p:cNvPr>
          <p:cNvCxnSpPr>
            <a:cxnSpLocks/>
          </p:cNvCxnSpPr>
          <p:nvPr/>
        </p:nvCxnSpPr>
        <p:spPr>
          <a:xfrm flipH="1" flipV="1">
            <a:off x="3585172" y="2766962"/>
            <a:ext cx="416460" cy="8276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3455C9-2328-93C5-C7AE-A598415BA079}"/>
              </a:ext>
            </a:extLst>
          </p:cNvPr>
          <p:cNvSpPr/>
          <p:nvPr/>
        </p:nvSpPr>
        <p:spPr>
          <a:xfrm>
            <a:off x="5376252" y="5053289"/>
            <a:ext cx="2871455" cy="476924"/>
          </a:xfrm>
          <a:prstGeom prst="roundRect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Background complete black #000000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E9460B-BD4D-E17F-D4F1-04C37328E048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6684475" y="4007341"/>
            <a:ext cx="127505" cy="10459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8722FFFB-FABB-B4F1-9549-0419A39185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7527" y="3389038"/>
            <a:ext cx="779400" cy="779400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4757411A-02E0-33FA-CF22-0372CD889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9899" y="4750813"/>
            <a:ext cx="779400" cy="779400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3CB50049-5C24-D6F4-CC97-C2BAA4F7C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237" y="-123203"/>
            <a:ext cx="779400" cy="779400"/>
          </a:xfrm>
          <a:prstGeom prst="rect">
            <a:avLst/>
          </a:prstGeom>
        </p:spPr>
      </p:pic>
      <p:pic>
        <p:nvPicPr>
          <p:cNvPr id="18" name="Graphic 17" descr="Checkmark with solid fill">
            <a:extLst>
              <a:ext uri="{FF2B5EF4-FFF2-40B4-BE49-F238E27FC236}">
                <a16:creationId xmlns:a16="http://schemas.microsoft.com/office/drawing/2014/main" id="{F78971E7-E503-B90E-18BC-40253262D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1030" y="2377262"/>
            <a:ext cx="779400" cy="77940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C3447745-C4CA-62A2-CEB4-078772652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772" y="1810292"/>
            <a:ext cx="779400" cy="7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8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28E05E-FD17-EE5E-F0E1-C6FF9E464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0485"/>
            <a:ext cx="12192000" cy="71283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14C06B-70DF-11B6-CA4B-0928606F9C90}"/>
              </a:ext>
            </a:extLst>
          </p:cNvPr>
          <p:cNvSpPr/>
          <p:nvPr/>
        </p:nvSpPr>
        <p:spPr>
          <a:xfrm>
            <a:off x="787652" y="3727643"/>
            <a:ext cx="9306962" cy="7128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“THE MEWA” A product of “Equamatrix Advisors Pvt Ltd” * SEBI Reg No: INH0000XXXXX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1F1DA1-6740-7AAB-1136-58FE57480FF5}"/>
              </a:ext>
            </a:extLst>
          </p:cNvPr>
          <p:cNvSpPr/>
          <p:nvPr/>
        </p:nvSpPr>
        <p:spPr>
          <a:xfrm>
            <a:off x="3838669" y="470780"/>
            <a:ext cx="5133315" cy="9234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Background in White </a:t>
            </a:r>
            <a:r>
              <a:rPr lang="en-US" dirty="0" err="1"/>
              <a:t>Colour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Slightly bigger than this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D4A3F0-FA03-BB9B-9B65-65A6F325636E}"/>
              </a:ext>
            </a:extLst>
          </p:cNvPr>
          <p:cNvCxnSpPr/>
          <p:nvPr/>
        </p:nvCxnSpPr>
        <p:spPr>
          <a:xfrm>
            <a:off x="7469109" y="1394233"/>
            <a:ext cx="208230" cy="7967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13C79B0-8CB5-95F6-4779-0CBFFFDC8EF4}"/>
              </a:ext>
            </a:extLst>
          </p:cNvPr>
          <p:cNvSpPr/>
          <p:nvPr/>
        </p:nvSpPr>
        <p:spPr>
          <a:xfrm>
            <a:off x="5441133" y="4857818"/>
            <a:ext cx="2814119" cy="7128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“ </a:t>
            </a:r>
            <a:r>
              <a:rPr lang="en-US" dirty="0">
                <a:solidFill>
                  <a:srgbClr val="000000"/>
                </a:solidFill>
              </a:rPr>
              <a:t>*</a:t>
            </a:r>
            <a:r>
              <a:rPr lang="en-US" dirty="0">
                <a:solidFill>
                  <a:schemeClr val="tx1"/>
                </a:solidFill>
              </a:rPr>
              <a:t> “ Aa star </a:t>
            </a:r>
            <a:r>
              <a:rPr lang="en-US" dirty="0" err="1">
                <a:solidFill>
                  <a:schemeClr val="tx1"/>
                </a:solidFill>
              </a:rPr>
              <a:t>vache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avo</a:t>
            </a:r>
            <a:r>
              <a:rPr lang="en-US" dirty="0">
                <a:solidFill>
                  <a:schemeClr val="tx1"/>
                </a:solidFill>
              </a:rPr>
              <a:t> joie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303EE4-3B50-89DF-E951-36DFE78ABE7F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6771992" y="4155541"/>
            <a:ext cx="76201" cy="7022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A070662C-C07C-9CAE-8409-0BB0484D6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952" y="3654390"/>
            <a:ext cx="779400" cy="779400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D66C4B60-3B05-69E9-C124-7DF853D19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9086" y="548259"/>
            <a:ext cx="779400" cy="77940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AFD9DAFB-160B-EC4B-3466-2D7EE051A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2299" y="4903213"/>
            <a:ext cx="779400" cy="7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48AC2B-46F6-50C0-C5B4-E2711DA9D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10" y="0"/>
            <a:ext cx="10692143" cy="1716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1D2CF1-3767-F926-26DC-DEBA49923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10" y="1716577"/>
            <a:ext cx="10692143" cy="486824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643E13-ED39-5283-4757-4B2356846548}"/>
              </a:ext>
            </a:extLst>
          </p:cNvPr>
          <p:cNvSpPr/>
          <p:nvPr/>
        </p:nvSpPr>
        <p:spPr>
          <a:xfrm>
            <a:off x="10502020" y="1855960"/>
            <a:ext cx="1982709" cy="8057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Card in White </a:t>
            </a:r>
            <a:r>
              <a:rPr lang="en-US" dirty="0" err="1"/>
              <a:t>Colour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692D66-095E-6869-7741-13833B276647}"/>
              </a:ext>
            </a:extLst>
          </p:cNvPr>
          <p:cNvCxnSpPr/>
          <p:nvPr/>
        </p:nvCxnSpPr>
        <p:spPr>
          <a:xfrm flipH="1">
            <a:off x="9415604" y="2263366"/>
            <a:ext cx="1086416" cy="1901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308951-AC4D-1736-1EA2-222D636BEA6B}"/>
              </a:ext>
            </a:extLst>
          </p:cNvPr>
          <p:cNvSpPr/>
          <p:nvPr/>
        </p:nvSpPr>
        <p:spPr>
          <a:xfrm>
            <a:off x="6464174" y="3193610"/>
            <a:ext cx="4825498" cy="4707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Equity segment recommendations with target and stop-loss levels</a:t>
            </a:r>
            <a:endParaRPr lang="en-IN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9C9D31-3FD1-416B-1B39-A98D10494B6B}"/>
              </a:ext>
            </a:extLst>
          </p:cNvPr>
          <p:cNvSpPr/>
          <p:nvPr/>
        </p:nvSpPr>
        <p:spPr>
          <a:xfrm>
            <a:off x="5824770" y="3981527"/>
            <a:ext cx="3494637" cy="23449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Intraday, Delivery &amp; Swing Recommendation</a:t>
            </a:r>
            <a:endParaRPr lang="en-IN" sz="1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3387B2-9A97-383E-E86C-DB5332B90E51}"/>
              </a:ext>
            </a:extLst>
          </p:cNvPr>
          <p:cNvSpPr/>
          <p:nvPr/>
        </p:nvSpPr>
        <p:spPr>
          <a:xfrm>
            <a:off x="5824770" y="4614667"/>
            <a:ext cx="1997424" cy="20754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0 – 20 Days (Short Term)</a:t>
            </a:r>
            <a:endParaRPr lang="en-IN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F74871-DAC9-2060-CC01-147A8F49D087}"/>
              </a:ext>
            </a:extLst>
          </p:cNvPr>
          <p:cNvSpPr/>
          <p:nvPr/>
        </p:nvSpPr>
        <p:spPr>
          <a:xfrm>
            <a:off x="5857214" y="5235380"/>
            <a:ext cx="1964980" cy="20754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App - Website</a:t>
            </a:r>
            <a:endParaRPr lang="en-IN" sz="1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79C89F-7A15-CBFA-6C6E-CA38FF8D8C98}"/>
              </a:ext>
            </a:extLst>
          </p:cNvPr>
          <p:cNvSpPr/>
          <p:nvPr/>
        </p:nvSpPr>
        <p:spPr>
          <a:xfrm>
            <a:off x="902326" y="3173240"/>
            <a:ext cx="2378041" cy="11701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Mobile size smaller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Screen shot same as our app with Cash Segment Highlighted</a:t>
            </a:r>
            <a:endParaRPr lang="en-IN" sz="12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1AF475-CD65-0047-CDA9-FF069CEEB56C}"/>
              </a:ext>
            </a:extLst>
          </p:cNvPr>
          <p:cNvSpPr/>
          <p:nvPr/>
        </p:nvSpPr>
        <p:spPr>
          <a:xfrm>
            <a:off x="4190246" y="814203"/>
            <a:ext cx="3811508" cy="327716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999D2E3-F0B6-FD54-E83F-671BE8E0CD19}"/>
              </a:ext>
            </a:extLst>
          </p:cNvPr>
          <p:cNvSpPr/>
          <p:nvPr/>
        </p:nvSpPr>
        <p:spPr>
          <a:xfrm>
            <a:off x="8767528" y="952452"/>
            <a:ext cx="1969883" cy="398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this line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86FE90-3B8A-C901-5E08-9167EC8AF9A4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8001754" y="1008852"/>
            <a:ext cx="765774" cy="1430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2756174-764B-B9FC-A9D8-89EE4CB76B44}"/>
              </a:ext>
            </a:extLst>
          </p:cNvPr>
          <p:cNvSpPr/>
          <p:nvPr/>
        </p:nvSpPr>
        <p:spPr>
          <a:xfrm>
            <a:off x="7199768" y="46831"/>
            <a:ext cx="4992232" cy="4116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Font </a:t>
            </a:r>
            <a:r>
              <a:rPr lang="en-US" sz="1200" dirty="0" err="1"/>
              <a:t>colour</a:t>
            </a:r>
            <a:r>
              <a:rPr lang="en-US" sz="1200" dirty="0"/>
              <a:t> Black &amp; border as per our theme &amp; slightly bigger in size.</a:t>
            </a:r>
          </a:p>
          <a:p>
            <a:pPr algn="ctr"/>
            <a:r>
              <a:rPr lang="en-US" sz="1200" dirty="0"/>
              <a:t>“Our services” </a:t>
            </a:r>
            <a:r>
              <a:rPr lang="en-US" sz="1200" dirty="0" err="1"/>
              <a:t>na</a:t>
            </a:r>
            <a:r>
              <a:rPr lang="en-US" sz="1200" dirty="0"/>
              <a:t> button nu background in White.</a:t>
            </a:r>
            <a:endParaRPr lang="en-IN" sz="12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DF7872-9FCF-654C-1B54-BB823E26067F}"/>
              </a:ext>
            </a:extLst>
          </p:cNvPr>
          <p:cNvCxnSpPr>
            <a:cxnSpLocks/>
          </p:cNvCxnSpPr>
          <p:nvPr/>
        </p:nvCxnSpPr>
        <p:spPr>
          <a:xfrm flipH="1">
            <a:off x="6464174" y="273180"/>
            <a:ext cx="735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3B282DC-17FF-5FC1-FC4D-CF7D4721392A}"/>
              </a:ext>
            </a:extLst>
          </p:cNvPr>
          <p:cNvSpPr/>
          <p:nvPr/>
        </p:nvSpPr>
        <p:spPr>
          <a:xfrm>
            <a:off x="9478978" y="485375"/>
            <a:ext cx="2713022" cy="2912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slightly smaller in size</a:t>
            </a:r>
            <a:endParaRPr lang="en-IN" sz="12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674170D-BED4-2243-F19F-E1E9DDDA26A6}"/>
              </a:ext>
            </a:extLst>
          </p:cNvPr>
          <p:cNvCxnSpPr>
            <a:cxnSpLocks/>
          </p:cNvCxnSpPr>
          <p:nvPr/>
        </p:nvCxnSpPr>
        <p:spPr>
          <a:xfrm flipH="1">
            <a:off x="9258864" y="645141"/>
            <a:ext cx="44022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9CF83F9-02E7-C762-7F11-8B3330D21D95}"/>
              </a:ext>
            </a:extLst>
          </p:cNvPr>
          <p:cNvSpPr/>
          <p:nvPr/>
        </p:nvSpPr>
        <p:spPr>
          <a:xfrm>
            <a:off x="2100404" y="6301212"/>
            <a:ext cx="6364586" cy="5567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full must be in one section only</a:t>
            </a:r>
            <a:endParaRPr lang="en-IN" dirty="0"/>
          </a:p>
        </p:txBody>
      </p: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AFA5C232-84B5-DDBB-55D2-B72A7DFCB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1603" y="-69456"/>
            <a:ext cx="596330" cy="596330"/>
          </a:xfrm>
          <a:prstGeom prst="rect">
            <a:avLst/>
          </a:prstGeom>
        </p:spPr>
      </p:pic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D8A580FC-7162-0A0C-6CCA-BA1B573FA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1267" y="437047"/>
            <a:ext cx="596330" cy="59633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696D642B-76C5-7F51-AC01-FCEAB96689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2020" y="1062258"/>
            <a:ext cx="596330" cy="596330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872C13EF-05A6-5316-2A2F-ECA1A1027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03855" y="3375165"/>
            <a:ext cx="596330" cy="596330"/>
          </a:xfrm>
          <a:prstGeom prst="rect">
            <a:avLst/>
          </a:prstGeom>
        </p:spPr>
      </p:pic>
      <p:pic>
        <p:nvPicPr>
          <p:cNvPr id="20" name="Graphic 19" descr="Checkmark with solid fill">
            <a:extLst>
              <a:ext uri="{FF2B5EF4-FFF2-40B4-BE49-F238E27FC236}">
                <a16:creationId xmlns:a16="http://schemas.microsoft.com/office/drawing/2014/main" id="{811ACF3C-FB9D-F734-0484-3CF5E926C4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0699" y="3917855"/>
            <a:ext cx="596330" cy="596330"/>
          </a:xfrm>
          <a:prstGeom prst="rect">
            <a:avLst/>
          </a:prstGeom>
        </p:spPr>
      </p:pic>
      <p:pic>
        <p:nvPicPr>
          <p:cNvPr id="21" name="Graphic 20" descr="Checkmark with solid fill">
            <a:extLst>
              <a:ext uri="{FF2B5EF4-FFF2-40B4-BE49-F238E27FC236}">
                <a16:creationId xmlns:a16="http://schemas.microsoft.com/office/drawing/2014/main" id="{A61E4E73-1453-7CEA-6BA6-5047F6309B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3589" y="4505924"/>
            <a:ext cx="596330" cy="596330"/>
          </a:xfrm>
          <a:prstGeom prst="rect">
            <a:avLst/>
          </a:prstGeom>
        </p:spPr>
      </p:pic>
      <p:pic>
        <p:nvPicPr>
          <p:cNvPr id="23" name="Graphic 22" descr="Checkmark with solid fill">
            <a:extLst>
              <a:ext uri="{FF2B5EF4-FFF2-40B4-BE49-F238E27FC236}">
                <a16:creationId xmlns:a16="http://schemas.microsoft.com/office/drawing/2014/main" id="{566F34ED-2855-1C60-EE87-E7D3F99F2B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3923" y="5130224"/>
            <a:ext cx="596330" cy="596330"/>
          </a:xfrm>
          <a:prstGeom prst="rect">
            <a:avLst/>
          </a:prstGeom>
        </p:spPr>
      </p:pic>
      <p:pic>
        <p:nvPicPr>
          <p:cNvPr id="25" name="Graphic 24" descr="Checkmark with solid fill">
            <a:extLst>
              <a:ext uri="{FF2B5EF4-FFF2-40B4-BE49-F238E27FC236}">
                <a16:creationId xmlns:a16="http://schemas.microsoft.com/office/drawing/2014/main" id="{EE1BB34D-21CB-18DB-579F-679CC4A82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40256" y="2258839"/>
            <a:ext cx="596330" cy="596330"/>
          </a:xfrm>
          <a:prstGeom prst="rect">
            <a:avLst/>
          </a:prstGeom>
        </p:spPr>
      </p:pic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E6B2B603-2341-BB98-2A7A-4494C6E81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0720" y="3901129"/>
            <a:ext cx="1334251" cy="133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749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160B2F-6512-4704-8C05-0E0E32DFB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433" y="1013237"/>
            <a:ext cx="8535134" cy="483152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BFD4ED-E5B1-F9F7-5A2E-9B2FCB28ACE5}"/>
              </a:ext>
            </a:extLst>
          </p:cNvPr>
          <p:cNvSpPr/>
          <p:nvPr/>
        </p:nvSpPr>
        <p:spPr>
          <a:xfrm>
            <a:off x="10067453" y="1276539"/>
            <a:ext cx="1982709" cy="8057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Card in White </a:t>
            </a:r>
            <a:r>
              <a:rPr lang="en-US" dirty="0" err="1"/>
              <a:t>Colour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9AC3232-6F72-C0D2-97F1-5788AC4F2442}"/>
              </a:ext>
            </a:extLst>
          </p:cNvPr>
          <p:cNvCxnSpPr/>
          <p:nvPr/>
        </p:nvCxnSpPr>
        <p:spPr>
          <a:xfrm flipH="1">
            <a:off x="8981037" y="1683945"/>
            <a:ext cx="1086416" cy="1901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204A3A-FC8F-0024-A050-3B41E26667E8}"/>
              </a:ext>
            </a:extLst>
          </p:cNvPr>
          <p:cNvSpPr/>
          <p:nvPr/>
        </p:nvSpPr>
        <p:spPr>
          <a:xfrm>
            <a:off x="2399168" y="2424065"/>
            <a:ext cx="4825498" cy="47078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Strategic options calls for Index Options &amp; Stocks Options with  entry and exit points.</a:t>
            </a:r>
            <a:endParaRPr lang="en-IN" sz="11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49B909-6F91-B82C-6951-294322F17B75}"/>
              </a:ext>
            </a:extLst>
          </p:cNvPr>
          <p:cNvSpPr/>
          <p:nvPr/>
        </p:nvSpPr>
        <p:spPr>
          <a:xfrm>
            <a:off x="3063463" y="3277354"/>
            <a:ext cx="2477257" cy="2172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Index Options &amp; Stock Options</a:t>
            </a:r>
            <a:endParaRPr lang="en-IN" sz="1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AE9573-1D51-A39A-5661-70D06ECACC3A}"/>
              </a:ext>
            </a:extLst>
          </p:cNvPr>
          <p:cNvSpPr/>
          <p:nvPr/>
        </p:nvSpPr>
        <p:spPr>
          <a:xfrm>
            <a:off x="3063463" y="3854514"/>
            <a:ext cx="3165321" cy="2172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Intraday &amp; Positional Recommendations</a:t>
            </a:r>
            <a:endParaRPr lang="en-IN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086215-2FA3-8067-DB2B-77D3D5B06C3D}"/>
              </a:ext>
            </a:extLst>
          </p:cNvPr>
          <p:cNvSpPr/>
          <p:nvPr/>
        </p:nvSpPr>
        <p:spPr>
          <a:xfrm>
            <a:off x="3063463" y="4237022"/>
            <a:ext cx="3165321" cy="45267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/>
              <a:t>Risk Management</a:t>
            </a:r>
          </a:p>
          <a:p>
            <a:r>
              <a:rPr lang="en-IN" sz="1200" dirty="0"/>
              <a:t>Pre-defined Target &amp; Stop-Loss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950123-3E9F-4A8F-CDC8-1DB0CE5A26C9}"/>
              </a:ext>
            </a:extLst>
          </p:cNvPr>
          <p:cNvSpPr/>
          <p:nvPr/>
        </p:nvSpPr>
        <p:spPr>
          <a:xfrm>
            <a:off x="8828823" y="2800915"/>
            <a:ext cx="2378041" cy="11701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Mobile size smaller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Screen shot same as our app with Options Segment Highlighted</a:t>
            </a:r>
            <a:endParaRPr lang="en-IN" sz="12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067DFC-07D8-3B1C-32B2-14C33A104CFC}"/>
              </a:ext>
            </a:extLst>
          </p:cNvPr>
          <p:cNvSpPr/>
          <p:nvPr/>
        </p:nvSpPr>
        <p:spPr>
          <a:xfrm>
            <a:off x="2743200" y="5680669"/>
            <a:ext cx="6364586" cy="5567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full must be in one section only</a:t>
            </a:r>
            <a:endParaRPr lang="en-IN" dirty="0"/>
          </a:p>
        </p:txBody>
      </p: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5C5D917B-FE60-46A5-5FE7-11717892B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3928" y="1740686"/>
            <a:ext cx="596330" cy="596330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E22EA38D-AFFC-F483-BF96-449575CD6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6071" y="4370081"/>
            <a:ext cx="596330" cy="596330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44EC43A0-853E-998D-666C-988F89F92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9188" y="3803106"/>
            <a:ext cx="596330" cy="596330"/>
          </a:xfrm>
          <a:prstGeom prst="rect">
            <a:avLst/>
          </a:prstGeom>
        </p:spPr>
      </p:pic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8FE96A83-B47D-D439-76D8-F27AC3B63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6207" y="3163655"/>
            <a:ext cx="596330" cy="596330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E35E14F2-4A65-3E58-C07C-2E0319511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6954" y="3363200"/>
            <a:ext cx="1334251" cy="133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4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7E2006-7895-1CA5-1011-FE7754061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314" y="862044"/>
            <a:ext cx="8251371" cy="513391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7EB177-61A4-E727-C08A-7A6DD3C99233}"/>
              </a:ext>
            </a:extLst>
          </p:cNvPr>
          <p:cNvSpPr/>
          <p:nvPr/>
        </p:nvSpPr>
        <p:spPr>
          <a:xfrm>
            <a:off x="9678154" y="588475"/>
            <a:ext cx="1982709" cy="8057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Card in White </a:t>
            </a:r>
            <a:r>
              <a:rPr lang="en-US" dirty="0" err="1"/>
              <a:t>Colour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798848-ABF0-A15F-C686-C3B488E2EF48}"/>
              </a:ext>
            </a:extLst>
          </p:cNvPr>
          <p:cNvCxnSpPr/>
          <p:nvPr/>
        </p:nvCxnSpPr>
        <p:spPr>
          <a:xfrm flipH="1">
            <a:off x="8591738" y="995881"/>
            <a:ext cx="1086416" cy="1901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A5E803-A0A9-70A9-C3A5-A9C20981D28F}"/>
              </a:ext>
            </a:extLst>
          </p:cNvPr>
          <p:cNvSpPr/>
          <p:nvPr/>
        </p:nvSpPr>
        <p:spPr>
          <a:xfrm>
            <a:off x="531136" y="2258838"/>
            <a:ext cx="2378041" cy="11701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Mobile size smaller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Screen shot same as our app with Futures Segment Highlighted</a:t>
            </a:r>
            <a:endParaRPr lang="en-IN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4E5338-1610-75C5-BAE0-FA596FAF5943}"/>
              </a:ext>
            </a:extLst>
          </p:cNvPr>
          <p:cNvSpPr/>
          <p:nvPr/>
        </p:nvSpPr>
        <p:spPr>
          <a:xfrm>
            <a:off x="5468293" y="2451226"/>
            <a:ext cx="4753392" cy="4707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Futures recommendations for intraday and positional trading.</a:t>
            </a:r>
            <a:endParaRPr lang="en-IN" sz="11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E0D763-8C4A-D831-BD06-47B4114F97D7}"/>
              </a:ext>
            </a:extLst>
          </p:cNvPr>
          <p:cNvSpPr/>
          <p:nvPr/>
        </p:nvSpPr>
        <p:spPr>
          <a:xfrm>
            <a:off x="5969625" y="4372824"/>
            <a:ext cx="3165321" cy="45267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/>
              <a:t>Recommendation Management</a:t>
            </a:r>
            <a:br>
              <a:rPr lang="en-IN" sz="1400" dirty="0"/>
            </a:br>
            <a:r>
              <a:rPr lang="en-IN" sz="1400" dirty="0"/>
              <a:t>Get c</a:t>
            </a:r>
            <a:r>
              <a:rPr lang="en-US" sz="1200" dirty="0" err="1"/>
              <a:t>lear</a:t>
            </a:r>
            <a:r>
              <a:rPr lang="en-US" sz="1200" dirty="0"/>
              <a:t> Entry, Target, and Stop Loss</a:t>
            </a:r>
            <a:endParaRPr lang="en-IN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1FF78A-5C25-02CE-79EE-103E8DF37E11}"/>
              </a:ext>
            </a:extLst>
          </p:cNvPr>
          <p:cNvSpPr/>
          <p:nvPr/>
        </p:nvSpPr>
        <p:spPr>
          <a:xfrm>
            <a:off x="2227152" y="5821676"/>
            <a:ext cx="6364586" cy="5567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full must be in one section only</a:t>
            </a:r>
            <a:endParaRPr lang="en-IN" dirty="0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5AAA5583-7714-2FA2-336F-EDCFC331B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9989" y="1013389"/>
            <a:ext cx="596330" cy="59633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554A13AA-BCB1-5037-8D48-73030F2A1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0128" y="2325676"/>
            <a:ext cx="596330" cy="596330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091DE918-12C6-3286-4D51-49B54DB40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8616" y="4552927"/>
            <a:ext cx="596330" cy="596330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12A336F3-9C4B-1756-9DDB-169E7371E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70" y="2953128"/>
            <a:ext cx="1334251" cy="133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434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72965-66ED-4F9B-7379-5D2444BF6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26822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451E47-1938-9D4B-3E81-C1AF79B69CEF}"/>
              </a:ext>
            </a:extLst>
          </p:cNvPr>
          <p:cNvSpPr/>
          <p:nvPr/>
        </p:nvSpPr>
        <p:spPr>
          <a:xfrm>
            <a:off x="3911097" y="1176950"/>
            <a:ext cx="4635374" cy="561315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FAA866-9885-E3F9-D7DA-E05FC9BAD52F}"/>
              </a:ext>
            </a:extLst>
          </p:cNvPr>
          <p:cNvSpPr/>
          <p:nvPr/>
        </p:nvSpPr>
        <p:spPr>
          <a:xfrm>
            <a:off x="9312245" y="1339439"/>
            <a:ext cx="1969883" cy="398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this line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00CEEF-4599-2CA5-B84A-BFC80A3F5BB7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8546471" y="1395839"/>
            <a:ext cx="765774" cy="1430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70C3C8-B9C0-E689-93EF-4B813905A23C}"/>
              </a:ext>
            </a:extLst>
          </p:cNvPr>
          <p:cNvSpPr/>
          <p:nvPr/>
        </p:nvSpPr>
        <p:spPr>
          <a:xfrm>
            <a:off x="7281249" y="280933"/>
            <a:ext cx="4992232" cy="4116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Font </a:t>
            </a:r>
            <a:r>
              <a:rPr lang="en-US" sz="1200" dirty="0" err="1"/>
              <a:t>colour</a:t>
            </a:r>
            <a:r>
              <a:rPr lang="en-US" sz="1200" dirty="0"/>
              <a:t> Black &amp; border as per our theme &amp; slightly bigger in size.</a:t>
            </a:r>
          </a:p>
          <a:p>
            <a:pPr algn="ctr"/>
            <a:r>
              <a:rPr lang="en-US" sz="1200" dirty="0"/>
              <a:t>“Benefits” </a:t>
            </a:r>
            <a:r>
              <a:rPr lang="en-US" sz="1200" dirty="0" err="1"/>
              <a:t>na</a:t>
            </a:r>
            <a:r>
              <a:rPr lang="en-US" sz="1200" dirty="0"/>
              <a:t> button nu background in White.</a:t>
            </a:r>
            <a:endParaRPr lang="en-IN" sz="1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DF6ECE-65DC-5215-F2F1-D3A5203B233F}"/>
              </a:ext>
            </a:extLst>
          </p:cNvPr>
          <p:cNvCxnSpPr>
            <a:cxnSpLocks/>
          </p:cNvCxnSpPr>
          <p:nvPr/>
        </p:nvCxnSpPr>
        <p:spPr>
          <a:xfrm flipH="1">
            <a:off x="6545655" y="507282"/>
            <a:ext cx="735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0887F1-2B35-2312-0985-120620E7BC68}"/>
              </a:ext>
            </a:extLst>
          </p:cNvPr>
          <p:cNvSpPr/>
          <p:nvPr/>
        </p:nvSpPr>
        <p:spPr>
          <a:xfrm>
            <a:off x="9519719" y="789123"/>
            <a:ext cx="2713022" cy="2912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slightly smaller in size</a:t>
            </a:r>
            <a:endParaRPr lang="en-IN" sz="1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A38AE9-C691-FDEF-BB16-61CC92990B77}"/>
              </a:ext>
            </a:extLst>
          </p:cNvPr>
          <p:cNvCxnSpPr>
            <a:cxnSpLocks/>
          </p:cNvCxnSpPr>
          <p:nvPr/>
        </p:nvCxnSpPr>
        <p:spPr>
          <a:xfrm flipH="1">
            <a:off x="9299605" y="948889"/>
            <a:ext cx="44022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21422D0D-0872-77D3-2BBB-F98564E12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3452" y="209117"/>
            <a:ext cx="596330" cy="596330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44851FA6-C0F9-2685-B0E7-E6C9C4209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2726" y="692541"/>
            <a:ext cx="596330" cy="596330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9EA613E9-C184-7D1F-71DD-03AFB7CA2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3388" y="1288871"/>
            <a:ext cx="596330" cy="59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8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7A15A8-3FFB-EAC1-0440-9F1ADECBC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0516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0BE2A2-C96E-239C-AE65-FF0F87462117}"/>
              </a:ext>
            </a:extLst>
          </p:cNvPr>
          <p:cNvSpPr/>
          <p:nvPr/>
        </p:nvSpPr>
        <p:spPr>
          <a:xfrm>
            <a:off x="9734013" y="561268"/>
            <a:ext cx="2270882" cy="8057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 our theme </a:t>
            </a:r>
            <a:r>
              <a:rPr lang="en-US" dirty="0" err="1"/>
              <a:t>colour</a:t>
            </a:r>
            <a:r>
              <a:rPr lang="en-US" dirty="0"/>
              <a:t> in “3 Simple Steps” 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639A3C-E350-4200-8CB6-2EC67063195D}"/>
              </a:ext>
            </a:extLst>
          </p:cNvPr>
          <p:cNvSpPr/>
          <p:nvPr/>
        </p:nvSpPr>
        <p:spPr>
          <a:xfrm>
            <a:off x="6557349" y="52382"/>
            <a:ext cx="4992232" cy="4116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Font </a:t>
            </a:r>
            <a:r>
              <a:rPr lang="en-US" sz="1200" dirty="0" err="1"/>
              <a:t>colour</a:t>
            </a:r>
            <a:r>
              <a:rPr lang="en-US" sz="1200" dirty="0"/>
              <a:t> White &amp; border as per our theme &amp; slightly bigger in size.</a:t>
            </a:r>
          </a:p>
          <a:p>
            <a:pPr algn="ctr"/>
            <a:r>
              <a:rPr lang="en-US" sz="1200" dirty="0"/>
              <a:t>“Get Started” </a:t>
            </a:r>
            <a:r>
              <a:rPr lang="en-US" sz="1200" dirty="0" err="1"/>
              <a:t>na</a:t>
            </a:r>
            <a:r>
              <a:rPr lang="en-US" sz="1200" dirty="0"/>
              <a:t> button nu background in Black.</a:t>
            </a:r>
            <a:endParaRPr lang="en-IN" sz="1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F56753-826E-96AB-A871-4E97E80C2037}"/>
              </a:ext>
            </a:extLst>
          </p:cNvPr>
          <p:cNvCxnSpPr>
            <a:cxnSpLocks/>
          </p:cNvCxnSpPr>
          <p:nvPr/>
        </p:nvCxnSpPr>
        <p:spPr>
          <a:xfrm flipH="1">
            <a:off x="5821755" y="278731"/>
            <a:ext cx="735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AB7667C-189D-DF99-56A5-2E2E708D8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134" y="3429000"/>
            <a:ext cx="6173061" cy="1247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3046CF-7BB3-78C5-EEBD-8E3F98E9F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284" y="5048236"/>
            <a:ext cx="6706536" cy="143847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0297B7-2963-B386-3EDD-58988A624009}"/>
              </a:ext>
            </a:extLst>
          </p:cNvPr>
          <p:cNvSpPr/>
          <p:nvPr/>
        </p:nvSpPr>
        <p:spPr>
          <a:xfrm>
            <a:off x="2836284" y="1863577"/>
            <a:ext cx="5456690" cy="12479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Join / Login in “THE MEWA” App &amp; Website.</a:t>
            </a:r>
          </a:p>
          <a:p>
            <a:endParaRPr lang="en-US" dirty="0"/>
          </a:p>
          <a:p>
            <a:r>
              <a:rPr lang="en-US" sz="1400" dirty="0"/>
              <a:t>Become a member of THE MEWA Family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3C9D55-8961-D1A4-2824-7079586CB969}"/>
              </a:ext>
            </a:extLst>
          </p:cNvPr>
          <p:cNvSpPr/>
          <p:nvPr/>
        </p:nvSpPr>
        <p:spPr>
          <a:xfrm>
            <a:off x="1949212" y="561268"/>
            <a:ext cx="6706536" cy="8057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 Getting Recommendations in </a:t>
            </a:r>
            <a:r>
              <a:rPr lang="en-US" dirty="0">
                <a:solidFill>
                  <a:srgbClr val="92D050"/>
                </a:solidFill>
              </a:rPr>
              <a:t>3 Simple Steps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594870-6757-4BC8-17B5-696D40E53FEF}"/>
              </a:ext>
            </a:extLst>
          </p:cNvPr>
          <p:cNvSpPr/>
          <p:nvPr/>
        </p:nvSpPr>
        <p:spPr>
          <a:xfrm>
            <a:off x="-33497" y="-351"/>
            <a:ext cx="2869781" cy="464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White background in this section.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DFB3A56-8FA0-FF5F-6B9B-0453BC495D93}"/>
              </a:ext>
            </a:extLst>
          </p:cNvPr>
          <p:cNvCxnSpPr>
            <a:cxnSpLocks/>
          </p:cNvCxnSpPr>
          <p:nvPr/>
        </p:nvCxnSpPr>
        <p:spPr>
          <a:xfrm flipH="1">
            <a:off x="7632071" y="964147"/>
            <a:ext cx="21019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3ECE7E7B-43A7-1664-57E1-B50E89919F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44889" y="52382"/>
            <a:ext cx="596330" cy="596330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46F9B217-1D96-C51E-F521-89E39C933C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14635" y="776544"/>
            <a:ext cx="810493" cy="810493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AA96E08-7120-1A5B-B698-331DDFAE94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81" y="165825"/>
            <a:ext cx="596330" cy="596330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45E7325E-7B33-A136-A390-34688D11A1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4954" y="2190001"/>
            <a:ext cx="1080014" cy="1080014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B025C682-3153-41D0-8C92-30B26D4748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811" y="3754809"/>
            <a:ext cx="596330" cy="596330"/>
          </a:xfrm>
          <a:prstGeom prst="rect">
            <a:avLst/>
          </a:prstGeom>
        </p:spPr>
      </p:pic>
      <p:pic>
        <p:nvPicPr>
          <p:cNvPr id="18" name="Graphic 17" descr="Checkmark with solid fill">
            <a:extLst>
              <a:ext uri="{FF2B5EF4-FFF2-40B4-BE49-F238E27FC236}">
                <a16:creationId xmlns:a16="http://schemas.microsoft.com/office/drawing/2014/main" id="{3E8A5FFE-19F4-D895-A4A8-D43107335F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07482" y="5908167"/>
            <a:ext cx="596330" cy="596330"/>
          </a:xfrm>
          <a:prstGeom prst="rect">
            <a:avLst/>
          </a:prstGeom>
        </p:spPr>
      </p:pic>
      <p:pic>
        <p:nvPicPr>
          <p:cNvPr id="19" name="Graphic 18" descr="Checkmark with solid fill">
            <a:extLst>
              <a:ext uri="{FF2B5EF4-FFF2-40B4-BE49-F238E27FC236}">
                <a16:creationId xmlns:a16="http://schemas.microsoft.com/office/drawing/2014/main" id="{460C90A9-02DC-73E3-5AEA-BEADB17BA8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07662" y="945328"/>
            <a:ext cx="968740" cy="96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69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E7168C-65F2-15AB-CEC2-4D8D305A6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7" y="0"/>
            <a:ext cx="12165653" cy="6858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68CB28-DA67-4CE6-0C45-1334DC8D7725}"/>
              </a:ext>
            </a:extLst>
          </p:cNvPr>
          <p:cNvSpPr/>
          <p:nvPr/>
        </p:nvSpPr>
        <p:spPr>
          <a:xfrm>
            <a:off x="4092166" y="1149789"/>
            <a:ext cx="4635374" cy="561315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59D041-DC9A-9142-7F89-13B328EE3F93}"/>
              </a:ext>
            </a:extLst>
          </p:cNvPr>
          <p:cNvSpPr/>
          <p:nvPr/>
        </p:nvSpPr>
        <p:spPr>
          <a:xfrm>
            <a:off x="9493314" y="1312278"/>
            <a:ext cx="1969883" cy="398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this line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F54BD3-759C-EFB2-9492-4E982D2F1395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8727540" y="1368678"/>
            <a:ext cx="765774" cy="1430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3EE978-D229-3E65-1A1F-C1E25EAB326C}"/>
              </a:ext>
            </a:extLst>
          </p:cNvPr>
          <p:cNvSpPr/>
          <p:nvPr/>
        </p:nvSpPr>
        <p:spPr>
          <a:xfrm>
            <a:off x="5486400" y="56886"/>
            <a:ext cx="2109458" cy="561315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A77BEA-6251-14BD-C4FB-CA4727AC80EF}"/>
              </a:ext>
            </a:extLst>
          </p:cNvPr>
          <p:cNvSpPr/>
          <p:nvPr/>
        </p:nvSpPr>
        <p:spPr>
          <a:xfrm>
            <a:off x="8861798" y="247575"/>
            <a:ext cx="2109458" cy="398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this line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EFEC37-88BF-7208-B974-65A21508EE93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7595858" y="303975"/>
            <a:ext cx="1265940" cy="1430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CF5A36-3923-38CD-1A2F-0162D6C971B0}"/>
              </a:ext>
            </a:extLst>
          </p:cNvPr>
          <p:cNvSpPr/>
          <p:nvPr/>
        </p:nvSpPr>
        <p:spPr>
          <a:xfrm>
            <a:off x="9750581" y="2233968"/>
            <a:ext cx="2298071" cy="4221153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73AF71-B582-4FC3-9446-C99FCD95DFFC}"/>
              </a:ext>
            </a:extLst>
          </p:cNvPr>
          <p:cNvSpPr/>
          <p:nvPr/>
        </p:nvSpPr>
        <p:spPr>
          <a:xfrm>
            <a:off x="9914674" y="4434215"/>
            <a:ext cx="1969883" cy="398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this line</a:t>
            </a:r>
            <a:endParaRPr lang="en-IN" dirty="0"/>
          </a:p>
        </p:txBody>
      </p: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7FA94906-DC8A-2F00-7A3A-C451FD62B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52628" y="148244"/>
            <a:ext cx="968740" cy="968740"/>
          </a:xfrm>
          <a:prstGeom prst="rect">
            <a:avLst/>
          </a:prstGeom>
        </p:spPr>
      </p:pic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B5D075BE-9146-4D5C-FCC9-35BBF58D6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9615" y="1252919"/>
            <a:ext cx="968740" cy="968740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9A35C202-8481-4278-CE12-15C26090E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79910" y="4351900"/>
            <a:ext cx="968740" cy="96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4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814D2-8F55-C405-68D7-9A8AE3719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52" y="0"/>
            <a:ext cx="10393295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12BDE6-95A3-2DA7-E2FE-B21FC1DD9F4D}"/>
              </a:ext>
            </a:extLst>
          </p:cNvPr>
          <p:cNvSpPr/>
          <p:nvPr/>
        </p:nvSpPr>
        <p:spPr>
          <a:xfrm>
            <a:off x="989545" y="0"/>
            <a:ext cx="2869781" cy="5454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White background in this section.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09EBFE-F8F8-CF41-EF3E-78C9EBFBBCDA}"/>
              </a:ext>
            </a:extLst>
          </p:cNvPr>
          <p:cNvSpPr/>
          <p:nvPr/>
        </p:nvSpPr>
        <p:spPr>
          <a:xfrm>
            <a:off x="3162376" y="4272885"/>
            <a:ext cx="2869781" cy="464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Mobile no section also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728B29-4A2E-BFD3-FAC9-12967A70AA33}"/>
              </a:ext>
            </a:extLst>
          </p:cNvPr>
          <p:cNvSpPr/>
          <p:nvPr/>
        </p:nvSpPr>
        <p:spPr>
          <a:xfrm>
            <a:off x="7361674" y="5158615"/>
            <a:ext cx="3930973" cy="8890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Visit Office &amp; Live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Call, </a:t>
            </a:r>
            <a:r>
              <a:rPr lang="en-US" dirty="0" err="1"/>
              <a:t>Whatsapp</a:t>
            </a:r>
            <a:r>
              <a:rPr lang="en-US" dirty="0"/>
              <a:t> &amp; E-mail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63ACA9-5816-580B-9A0D-55AA58061F18}"/>
              </a:ext>
            </a:extLst>
          </p:cNvPr>
          <p:cNvSpPr/>
          <p:nvPr/>
        </p:nvSpPr>
        <p:spPr>
          <a:xfrm>
            <a:off x="2752253" y="994602"/>
            <a:ext cx="7052649" cy="6989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We’re Happy to help you.</a:t>
            </a:r>
          </a:p>
          <a:p>
            <a:pPr algn="ctr"/>
            <a:r>
              <a:rPr lang="en-US" dirty="0"/>
              <a:t>Send us a message and we'll get back to you.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592EE5-A558-46D2-718C-E032CB4A071C}"/>
              </a:ext>
            </a:extLst>
          </p:cNvPr>
          <p:cNvSpPr/>
          <p:nvPr/>
        </p:nvSpPr>
        <p:spPr>
          <a:xfrm>
            <a:off x="7308786" y="0"/>
            <a:ext cx="4992232" cy="4116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Font </a:t>
            </a:r>
            <a:r>
              <a:rPr lang="en-US" sz="1200" dirty="0" err="1"/>
              <a:t>colour</a:t>
            </a:r>
            <a:r>
              <a:rPr lang="en-US" sz="1200" dirty="0"/>
              <a:t> Black &amp; border as per our theme &amp; slightly bigger in size.</a:t>
            </a:r>
          </a:p>
          <a:p>
            <a:pPr algn="ctr"/>
            <a:r>
              <a:rPr lang="en-US" sz="1200" dirty="0"/>
              <a:t>“Get In Touch” </a:t>
            </a:r>
            <a:r>
              <a:rPr lang="en-US" sz="1200" dirty="0" err="1"/>
              <a:t>na</a:t>
            </a:r>
            <a:r>
              <a:rPr lang="en-US" sz="1200" dirty="0"/>
              <a:t> button nu background in White.</a:t>
            </a:r>
            <a:endParaRPr lang="en-IN" sz="1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4B2468-CCF9-8DE7-9F70-EFA751276346}"/>
              </a:ext>
            </a:extLst>
          </p:cNvPr>
          <p:cNvCxnSpPr>
            <a:cxnSpLocks/>
          </p:cNvCxnSpPr>
          <p:nvPr/>
        </p:nvCxnSpPr>
        <p:spPr>
          <a:xfrm flipH="1">
            <a:off x="6573192" y="226349"/>
            <a:ext cx="735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D04DE5FC-1812-1A78-97EF-94E91DAE3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9202" y="1166565"/>
            <a:ext cx="968740" cy="96874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B4F733DB-4191-D8DF-AA9F-DC59BC00F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1271" y="4344503"/>
            <a:ext cx="968740" cy="968740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4BC6B7BF-2D57-826C-EA3D-57E86F68B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0950" y="108703"/>
            <a:ext cx="968740" cy="968740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C4495212-7D6D-C0CD-BC3C-7780DF3DE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3785" y="79638"/>
            <a:ext cx="968740" cy="968740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FF9961C4-D03C-E3AA-C25B-5DCFDD512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82417" y="5563344"/>
            <a:ext cx="968740" cy="96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48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B06750-9DA6-2EE1-97DF-ACA7DA7BB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938"/>
            <a:ext cx="12192000" cy="300200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653386-1D32-12DB-8C48-254B67693D40}"/>
              </a:ext>
            </a:extLst>
          </p:cNvPr>
          <p:cNvSpPr/>
          <p:nvPr/>
        </p:nvSpPr>
        <p:spPr>
          <a:xfrm>
            <a:off x="4346870" y="3429000"/>
            <a:ext cx="3930973" cy="8890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Delete this section from all pages</a:t>
            </a:r>
            <a:endParaRPr lang="en-IN" dirty="0"/>
          </a:p>
        </p:txBody>
      </p: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42E4B7C5-7D68-B78C-FB61-A24B8C4C4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2583" y="3161198"/>
            <a:ext cx="2708230" cy="270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0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15B7D8-DCD8-10E8-38FE-1F0675208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92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01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D2D966-5B3D-E525-6706-709078317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080" y="734458"/>
            <a:ext cx="2514920" cy="374671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193BAC-EAB0-8D15-37DA-2BBFFCD372A2}"/>
              </a:ext>
            </a:extLst>
          </p:cNvPr>
          <p:cNvSpPr/>
          <p:nvPr/>
        </p:nvSpPr>
        <p:spPr>
          <a:xfrm>
            <a:off x="6799152" y="1539089"/>
            <a:ext cx="3992579" cy="1656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About Mewa</a:t>
            </a:r>
          </a:p>
          <a:p>
            <a:pPr algn="ctr"/>
            <a:r>
              <a:rPr lang="en-US" dirty="0"/>
              <a:t>Section starts here.</a:t>
            </a:r>
          </a:p>
          <a:p>
            <a:pPr algn="ctr"/>
            <a:r>
              <a:rPr lang="en-US" dirty="0"/>
              <a:t>Dorp down as it 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6433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2C113E-2A4D-E7FF-B8D5-CB40BCF1F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1421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725BFA-E8DC-CD6C-6028-9E716465A031}"/>
              </a:ext>
            </a:extLst>
          </p:cNvPr>
          <p:cNvSpPr/>
          <p:nvPr/>
        </p:nvSpPr>
        <p:spPr>
          <a:xfrm>
            <a:off x="8057585" y="1575303"/>
            <a:ext cx="4134416" cy="10592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Background in complete black </a:t>
            </a:r>
            <a:r>
              <a:rPr lang="en-US" dirty="0" err="1"/>
              <a:t>colour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remove </a:t>
            </a:r>
            <a:r>
              <a:rPr lang="en-US" dirty="0" err="1"/>
              <a:t>colouring</a:t>
            </a:r>
            <a:r>
              <a:rPr lang="en-US" dirty="0"/>
              <a:t> spots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F37E76-1267-DA89-FF17-DB6867B6C944}"/>
              </a:ext>
            </a:extLst>
          </p:cNvPr>
          <p:cNvSpPr/>
          <p:nvPr/>
        </p:nvSpPr>
        <p:spPr>
          <a:xfrm>
            <a:off x="6557348" y="581848"/>
            <a:ext cx="4992232" cy="4116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Font </a:t>
            </a:r>
            <a:r>
              <a:rPr lang="en-US" sz="1200" dirty="0" err="1"/>
              <a:t>colour</a:t>
            </a:r>
            <a:r>
              <a:rPr lang="en-US" sz="1200" dirty="0"/>
              <a:t> Black &amp; border as per our theme &amp; slightly bigger in size.</a:t>
            </a:r>
          </a:p>
          <a:p>
            <a:pPr algn="ctr"/>
            <a:r>
              <a:rPr lang="en-US" sz="1200" dirty="0"/>
              <a:t>“Get In Touch” </a:t>
            </a:r>
            <a:r>
              <a:rPr lang="en-US" sz="1200" dirty="0" err="1"/>
              <a:t>na</a:t>
            </a:r>
            <a:r>
              <a:rPr lang="en-US" sz="1200" dirty="0"/>
              <a:t> button nu background in White.</a:t>
            </a:r>
            <a:endParaRPr lang="en-IN" sz="12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F55279C-90D1-F8F9-2858-BC61853319E1}"/>
              </a:ext>
            </a:extLst>
          </p:cNvPr>
          <p:cNvCxnSpPr>
            <a:cxnSpLocks/>
          </p:cNvCxnSpPr>
          <p:nvPr/>
        </p:nvCxnSpPr>
        <p:spPr>
          <a:xfrm flipH="1">
            <a:off x="5821754" y="808197"/>
            <a:ext cx="735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847F0A86-FBCE-B79F-25E5-DFF8CB92E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1210" y="2071050"/>
            <a:ext cx="1828370" cy="1828370"/>
          </a:xfrm>
          <a:prstGeom prst="rect">
            <a:avLst/>
          </a:prstGeom>
        </p:spPr>
      </p:pic>
      <p:pic>
        <p:nvPicPr>
          <p:cNvPr id="7" name="Graphic 6" descr="Clock with solid fill">
            <a:extLst>
              <a:ext uri="{FF2B5EF4-FFF2-40B4-BE49-F238E27FC236}">
                <a16:creationId xmlns:a16="http://schemas.microsoft.com/office/drawing/2014/main" id="{30095D14-E1D7-3FFF-44CC-205DC7B10E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153661"/>
            <a:ext cx="654536" cy="65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06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16759F-9E8D-62A2-AFE7-D22AE6681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58" y="2007829"/>
            <a:ext cx="3478324" cy="45308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8142D3-D829-2833-CEF3-CF316E270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499" y="3766550"/>
            <a:ext cx="7468642" cy="277216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F4E155-6E9F-D93C-83D2-6F0A3A4B7D73}"/>
              </a:ext>
            </a:extLst>
          </p:cNvPr>
          <p:cNvSpPr/>
          <p:nvPr/>
        </p:nvSpPr>
        <p:spPr>
          <a:xfrm>
            <a:off x="4508625" y="2638622"/>
            <a:ext cx="7153515" cy="905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are a </a:t>
            </a:r>
            <a:r>
              <a:rPr lang="en-US" b="1" dirty="0"/>
              <a:t>SEBI-registered Research Analyst</a:t>
            </a:r>
            <a:r>
              <a:rPr lang="en-US" dirty="0"/>
              <a:t> firm with deep-rooted expertise.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6F0FD2-DA2A-AAE9-02C8-C5E7CA710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861"/>
            <a:ext cx="12192000" cy="1773695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33C3C0-F1F5-87C8-025A-C04F8D073758}"/>
              </a:ext>
            </a:extLst>
          </p:cNvPr>
          <p:cNvSpPr/>
          <p:nvPr/>
        </p:nvSpPr>
        <p:spPr>
          <a:xfrm>
            <a:off x="636460" y="208229"/>
            <a:ext cx="2869781" cy="5454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White background in this section.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017AA9B-7501-5498-7934-612147C7984F}"/>
              </a:ext>
            </a:extLst>
          </p:cNvPr>
          <p:cNvSpPr/>
          <p:nvPr/>
        </p:nvSpPr>
        <p:spPr>
          <a:xfrm>
            <a:off x="7055289" y="208229"/>
            <a:ext cx="4992232" cy="4116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Font </a:t>
            </a:r>
            <a:r>
              <a:rPr lang="en-US" sz="1200" dirty="0" err="1"/>
              <a:t>colour</a:t>
            </a:r>
            <a:r>
              <a:rPr lang="en-US" sz="1200" dirty="0"/>
              <a:t> White &amp; border as per our theme &amp; slightly bigger in size.</a:t>
            </a:r>
          </a:p>
          <a:p>
            <a:pPr algn="ctr"/>
            <a:r>
              <a:rPr lang="en-US" sz="1200" dirty="0"/>
              <a:t>“Who We Are” </a:t>
            </a:r>
            <a:r>
              <a:rPr lang="en-US" sz="1200" dirty="0" err="1"/>
              <a:t>na</a:t>
            </a:r>
            <a:r>
              <a:rPr lang="en-US" sz="1200" dirty="0"/>
              <a:t> button nu background in Black.</a:t>
            </a:r>
            <a:endParaRPr lang="en-IN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8561E8-F075-58E0-1FF6-9CEF8B4CCE94}"/>
              </a:ext>
            </a:extLst>
          </p:cNvPr>
          <p:cNvCxnSpPr>
            <a:cxnSpLocks/>
          </p:cNvCxnSpPr>
          <p:nvPr/>
        </p:nvCxnSpPr>
        <p:spPr>
          <a:xfrm flipH="1">
            <a:off x="6319695" y="434578"/>
            <a:ext cx="735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8E29E0C-12B7-6DD1-A88C-DD4B8BBB4E8C}"/>
              </a:ext>
            </a:extLst>
          </p:cNvPr>
          <p:cNvSpPr/>
          <p:nvPr/>
        </p:nvSpPr>
        <p:spPr>
          <a:xfrm>
            <a:off x="938417" y="5861450"/>
            <a:ext cx="2869781" cy="5454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Border of circle &amp; straight line in our theme </a:t>
            </a:r>
            <a:r>
              <a:rPr lang="en-US" dirty="0" err="1"/>
              <a:t>colour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41B17E-E14B-0713-96F9-E0B6747A1BEE}"/>
              </a:ext>
            </a:extLst>
          </p:cNvPr>
          <p:cNvCxnSpPr>
            <a:cxnSpLocks/>
          </p:cNvCxnSpPr>
          <p:nvPr/>
        </p:nvCxnSpPr>
        <p:spPr>
          <a:xfrm flipV="1">
            <a:off x="2373308" y="5441133"/>
            <a:ext cx="80181" cy="470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D2562D-1DD4-6B34-64C0-9C910A0A48F3}"/>
              </a:ext>
            </a:extLst>
          </p:cNvPr>
          <p:cNvCxnSpPr/>
          <p:nvPr/>
        </p:nvCxnSpPr>
        <p:spPr>
          <a:xfrm flipV="1">
            <a:off x="2761307" y="5152631"/>
            <a:ext cx="1330859" cy="708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4B05496E-6C9E-C7FC-E99E-32FA5A3AA5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5169" y="5193345"/>
            <a:ext cx="1113938" cy="1113938"/>
          </a:xfrm>
          <a:prstGeom prst="rect">
            <a:avLst/>
          </a:prstGeom>
        </p:spPr>
      </p:pic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504F5666-C5D3-528D-6458-75EE6CDAD1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4322" y="2638622"/>
            <a:ext cx="1212261" cy="1212261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32E6C436-B947-9F9F-B8EF-1F47944B0D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2377" y="166926"/>
            <a:ext cx="905821" cy="905821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9433E7B4-94A3-C54C-1389-14C744A831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41700" y="234343"/>
            <a:ext cx="905821" cy="90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5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0D311D-F8E5-B647-54D3-A0D4C347B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2827"/>
            <a:ext cx="12192000" cy="483020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F67050-8DB1-083D-454E-AFC1A73A6C1F}"/>
              </a:ext>
            </a:extLst>
          </p:cNvPr>
          <p:cNvSpPr/>
          <p:nvPr/>
        </p:nvSpPr>
        <p:spPr>
          <a:xfrm>
            <a:off x="7381213" y="907772"/>
            <a:ext cx="4810787" cy="4116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Font </a:t>
            </a:r>
            <a:r>
              <a:rPr lang="en-US" sz="1200" dirty="0" err="1"/>
              <a:t>colour</a:t>
            </a:r>
            <a:r>
              <a:rPr lang="en-US" sz="1200" dirty="0"/>
              <a:t> Black &amp; border as per our theme &amp; slightly bigger in size.</a:t>
            </a:r>
          </a:p>
          <a:p>
            <a:pPr algn="ctr"/>
            <a:r>
              <a:rPr lang="en-US" sz="1200" dirty="0"/>
              <a:t>“Get In Touch” </a:t>
            </a:r>
            <a:r>
              <a:rPr lang="en-US" sz="1200" dirty="0" err="1"/>
              <a:t>na</a:t>
            </a:r>
            <a:r>
              <a:rPr lang="en-US" sz="1200" dirty="0"/>
              <a:t> button nu background in White.</a:t>
            </a:r>
            <a:endParaRPr lang="en-IN" sz="12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D18686-DE05-AAD7-DDE9-D0C649D72AFE}"/>
              </a:ext>
            </a:extLst>
          </p:cNvPr>
          <p:cNvCxnSpPr>
            <a:cxnSpLocks/>
          </p:cNvCxnSpPr>
          <p:nvPr/>
        </p:nvCxnSpPr>
        <p:spPr>
          <a:xfrm flipH="1">
            <a:off x="6645619" y="1134121"/>
            <a:ext cx="735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1A46D5-2BA4-EB9A-D102-81AFEA74DDE2}"/>
              </a:ext>
            </a:extLst>
          </p:cNvPr>
          <p:cNvSpPr/>
          <p:nvPr/>
        </p:nvSpPr>
        <p:spPr>
          <a:xfrm>
            <a:off x="6353645" y="4001970"/>
            <a:ext cx="2055136" cy="13353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Each recommendation is validated by our SEBI-registered market analyst.</a:t>
            </a:r>
            <a:endParaRPr lang="en-IN" sz="1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45CF33-1BA3-5EC1-6C14-EE52B864ACA7}"/>
              </a:ext>
            </a:extLst>
          </p:cNvPr>
          <p:cNvSpPr/>
          <p:nvPr/>
        </p:nvSpPr>
        <p:spPr>
          <a:xfrm>
            <a:off x="3304513" y="5409536"/>
            <a:ext cx="2723207" cy="1448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When the mouse is on any of the box then effect only once not multiple times.</a:t>
            </a:r>
            <a:endParaRPr lang="en-IN" dirty="0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269FAF50-AB95-F584-C202-F44F33B29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6488" y="4742077"/>
            <a:ext cx="1012293" cy="1012293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0E2312E2-65BA-3561-ABF4-C03457429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1521" y="971408"/>
            <a:ext cx="1012293" cy="1012293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EB73BB43-07E3-EC1E-B696-23FA31BD2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1573" y="6025173"/>
            <a:ext cx="1012293" cy="101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58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26590C-0D0F-DD9A-10C0-85202CB32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980" y="0"/>
            <a:ext cx="9964541" cy="197195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88BC1A-2B1F-11F4-E285-B3AB9293220E}"/>
              </a:ext>
            </a:extLst>
          </p:cNvPr>
          <p:cNvSpPr/>
          <p:nvPr/>
        </p:nvSpPr>
        <p:spPr>
          <a:xfrm>
            <a:off x="636460" y="208229"/>
            <a:ext cx="3781631" cy="5454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White background in this section.</a:t>
            </a:r>
          </a:p>
          <a:p>
            <a:pPr algn="ctr"/>
            <a:r>
              <a:rPr lang="en-US" dirty="0"/>
              <a:t>But the below 4 boxes in Black as it is.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70368-D843-FFFC-43E3-026A439F8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520" y="2101944"/>
            <a:ext cx="2497610" cy="238742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A297AA-3B38-C61E-92C0-B560D7A49F80}"/>
              </a:ext>
            </a:extLst>
          </p:cNvPr>
          <p:cNvSpPr/>
          <p:nvPr/>
        </p:nvSpPr>
        <p:spPr>
          <a:xfrm>
            <a:off x="914400" y="2706986"/>
            <a:ext cx="4671588" cy="905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Expert-backed Buy and Sell recommendations with precise Targe and Stop Loss levels. Our analyst combine technical analysis with fundamental research to deliver Recommendations</a:t>
            </a:r>
            <a:endParaRPr lang="en-IN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8F16BE-4F9E-FD5B-0C9E-5376AD5A4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50" y="2096547"/>
            <a:ext cx="2821665" cy="270095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FA2563-BC23-E241-E7A6-284397BB74A6}"/>
              </a:ext>
            </a:extLst>
          </p:cNvPr>
          <p:cNvSpPr/>
          <p:nvPr/>
        </p:nvSpPr>
        <p:spPr>
          <a:xfrm>
            <a:off x="8627953" y="2985296"/>
            <a:ext cx="2507809" cy="9234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All Good</a:t>
            </a:r>
          </a:p>
          <a:p>
            <a:pPr algn="ctr"/>
            <a:r>
              <a:rPr lang="en-US" sz="1400" dirty="0"/>
              <a:t>Just remove 94% from this and keep design as it is including the </a:t>
            </a:r>
            <a:r>
              <a:rPr lang="en-US" sz="1400" dirty="0" err="1"/>
              <a:t>colour</a:t>
            </a:r>
            <a:r>
              <a:rPr lang="en-US" sz="1400" dirty="0"/>
              <a:t> spots</a:t>
            </a:r>
            <a:endParaRPr lang="en-IN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0FB77B-C932-A484-D5A6-048C3E286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075" y="4886051"/>
            <a:ext cx="7079519" cy="1760415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4783F2-4E71-B255-3D8E-28F7A4347E05}"/>
              </a:ext>
            </a:extLst>
          </p:cNvPr>
          <p:cNvSpPr/>
          <p:nvPr/>
        </p:nvSpPr>
        <p:spPr>
          <a:xfrm>
            <a:off x="8493659" y="5349118"/>
            <a:ext cx="2776396" cy="9234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Should be updated daily and </a:t>
            </a:r>
          </a:p>
          <a:p>
            <a:pPr algn="ctr"/>
            <a:r>
              <a:rPr lang="en-US" sz="1400" dirty="0"/>
              <a:t>if + then in Green </a:t>
            </a:r>
            <a:r>
              <a:rPr lang="en-US" sz="1400" dirty="0" err="1"/>
              <a:t>colour</a:t>
            </a:r>
            <a:r>
              <a:rPr lang="en-US" sz="1400" dirty="0"/>
              <a:t>, </a:t>
            </a:r>
          </a:p>
          <a:p>
            <a:pPr algn="ctr"/>
            <a:r>
              <a:rPr lang="en-US" sz="1400" dirty="0"/>
              <a:t>if - then in Red </a:t>
            </a:r>
            <a:r>
              <a:rPr lang="en-US" sz="1400" dirty="0" err="1"/>
              <a:t>colour</a:t>
            </a:r>
            <a:r>
              <a:rPr lang="en-US" sz="1400" dirty="0"/>
              <a:t> </a:t>
            </a:r>
            <a:endParaRPr lang="en-IN" sz="1400" dirty="0"/>
          </a:p>
          <a:p>
            <a:pPr algn="ctr"/>
            <a:endParaRPr lang="en-IN" sz="1400" dirty="0"/>
          </a:p>
        </p:txBody>
      </p: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C2DC51B3-00C9-AF88-FBC1-E09AD9BE1A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460" y="3257536"/>
            <a:ext cx="651214" cy="651214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5EDAA341-46E7-AC63-CEB3-3269ABB67E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19441" y="3612332"/>
            <a:ext cx="651214" cy="651214"/>
          </a:xfrm>
          <a:prstGeom prst="rect">
            <a:avLst/>
          </a:prstGeom>
        </p:spPr>
      </p:pic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1A1E4133-7AD2-6AA4-D3A5-42EC3B2C26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2839" y="595701"/>
            <a:ext cx="1068282" cy="1068282"/>
          </a:xfrm>
          <a:prstGeom prst="rect">
            <a:avLst/>
          </a:prstGeom>
        </p:spPr>
      </p:pic>
      <p:pic>
        <p:nvPicPr>
          <p:cNvPr id="15" name="Graphic 14" descr="Clock with solid fill">
            <a:extLst>
              <a:ext uri="{FF2B5EF4-FFF2-40B4-BE49-F238E27FC236}">
                <a16:creationId xmlns:a16="http://schemas.microsoft.com/office/drawing/2014/main" id="{36F31AC7-91CB-2277-B94B-DA298FE9C4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4253" y="4749509"/>
            <a:ext cx="654536" cy="65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85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18B6ED-60E5-683C-5DA5-C253E88F9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5758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222EE9-439E-6F08-FAF9-3D8A571A6D02}"/>
              </a:ext>
            </a:extLst>
          </p:cNvPr>
          <p:cNvSpPr/>
          <p:nvPr/>
        </p:nvSpPr>
        <p:spPr>
          <a:xfrm>
            <a:off x="8012319" y="2389044"/>
            <a:ext cx="470780" cy="39835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80A65D-7D73-1051-ABCD-BEF0958344E3}"/>
              </a:ext>
            </a:extLst>
          </p:cNvPr>
          <p:cNvSpPr/>
          <p:nvPr/>
        </p:nvSpPr>
        <p:spPr>
          <a:xfrm>
            <a:off x="10400923" y="2389579"/>
            <a:ext cx="716732" cy="39835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9839374-ECAA-A668-90C4-C3546553BD24}"/>
              </a:ext>
            </a:extLst>
          </p:cNvPr>
          <p:cNvSpPr/>
          <p:nvPr/>
        </p:nvSpPr>
        <p:spPr>
          <a:xfrm rot="16200000">
            <a:off x="9275815" y="818803"/>
            <a:ext cx="469709" cy="2670771"/>
          </a:xfrm>
          <a:prstGeom prst="rightBrace">
            <a:avLst>
              <a:gd name="adj1" fmla="val 96795"/>
              <a:gd name="adj2" fmla="val 50000"/>
            </a:avLst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769C26-F924-87C5-896B-E8C44D1AA7AE}"/>
              </a:ext>
            </a:extLst>
          </p:cNvPr>
          <p:cNvSpPr/>
          <p:nvPr/>
        </p:nvSpPr>
        <p:spPr>
          <a:xfrm>
            <a:off x="8560055" y="1611517"/>
            <a:ext cx="1901227" cy="3072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this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293D6-4194-F62F-28A9-F5C573E8A768}"/>
              </a:ext>
            </a:extLst>
          </p:cNvPr>
          <p:cNvSpPr/>
          <p:nvPr/>
        </p:nvSpPr>
        <p:spPr>
          <a:xfrm>
            <a:off x="7254464" y="342255"/>
            <a:ext cx="4810787" cy="4116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Font </a:t>
            </a:r>
            <a:r>
              <a:rPr lang="en-US" sz="1200" dirty="0" err="1"/>
              <a:t>colour</a:t>
            </a:r>
            <a:r>
              <a:rPr lang="en-US" sz="1200" dirty="0"/>
              <a:t> Black &amp; border as per our theme &amp; slightly bigger in size.</a:t>
            </a:r>
          </a:p>
          <a:p>
            <a:pPr algn="ctr"/>
            <a:r>
              <a:rPr lang="en-US" sz="1200" dirty="0"/>
              <a:t>“Testimonials” </a:t>
            </a:r>
            <a:r>
              <a:rPr lang="en-US" sz="1200" dirty="0" err="1"/>
              <a:t>na</a:t>
            </a:r>
            <a:r>
              <a:rPr lang="en-US" sz="1200" dirty="0"/>
              <a:t> button nu background in White.</a:t>
            </a:r>
            <a:endParaRPr lang="en-IN" sz="1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9E643B-280F-EB9E-F341-982102CA8CAA}"/>
              </a:ext>
            </a:extLst>
          </p:cNvPr>
          <p:cNvCxnSpPr>
            <a:cxnSpLocks/>
          </p:cNvCxnSpPr>
          <p:nvPr/>
        </p:nvCxnSpPr>
        <p:spPr>
          <a:xfrm flipH="1">
            <a:off x="6518870" y="568604"/>
            <a:ext cx="735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06054A-C0C5-BABB-A194-7CF589A60B2E}"/>
              </a:ext>
            </a:extLst>
          </p:cNvPr>
          <p:cNvSpPr/>
          <p:nvPr/>
        </p:nvSpPr>
        <p:spPr>
          <a:xfrm>
            <a:off x="3259248" y="823865"/>
            <a:ext cx="5223851" cy="9102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Building Trust Through Transparency</a:t>
            </a:r>
          </a:p>
        </p:txBody>
      </p: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D9E5D1D5-8020-08C5-0466-60C58B7AF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1133" y="568604"/>
            <a:ext cx="651214" cy="651214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CB6B1488-CE72-B2AB-01A5-727488C4C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9985" y="1338121"/>
            <a:ext cx="651214" cy="651214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60A85F0D-8FB9-6296-0EA5-CD1349C9A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8075" y="1610981"/>
            <a:ext cx="651214" cy="65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22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0B731-47FF-0A28-AA84-67F83D5A8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75" y="0"/>
            <a:ext cx="10430249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21FF90-75F4-9817-C986-AB1330052593}"/>
              </a:ext>
            </a:extLst>
          </p:cNvPr>
          <p:cNvSpPr/>
          <p:nvPr/>
        </p:nvSpPr>
        <p:spPr>
          <a:xfrm>
            <a:off x="636460" y="208229"/>
            <a:ext cx="3781631" cy="5454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White background in this section.</a:t>
            </a:r>
          </a:p>
        </p:txBody>
      </p: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E3F17C88-06C3-1927-DD93-F89F32CBD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580" y="208229"/>
            <a:ext cx="2087070" cy="208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2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3137</TotalTime>
  <Words>788</Words>
  <Application>Microsoft Office PowerPoint</Application>
  <PresentationFormat>Widescreen</PresentationFormat>
  <Paragraphs>104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Devaa Soni</cp:lastModifiedBy>
  <cp:revision>73</cp:revision>
  <dcterms:created xsi:type="dcterms:W3CDTF">2026-01-08T05:34:05Z</dcterms:created>
  <dcterms:modified xsi:type="dcterms:W3CDTF">2026-01-12T09:29:52Z</dcterms:modified>
</cp:coreProperties>
</file>